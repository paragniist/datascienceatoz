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7BBDB-4300-4AE5-B8A3-D4344A0BD666}" v="102" dt="2025-12-31T14:14:39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Ensemble Learning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sz="half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b="1"/>
              <a:t>Ensemble Learning</a:t>
            </a:r>
            <a:r>
              <a:rPr lang="en-US" sz="1600"/>
              <a:t> is a machine learning technique in which </a:t>
            </a:r>
            <a:r>
              <a:rPr lang="en-US" sz="1600" b="1"/>
              <a:t>multiple models (called weak learners)</a:t>
            </a:r>
            <a:r>
              <a:rPr lang="en-US" sz="1600"/>
              <a:t> are trained and </a:t>
            </a:r>
            <a:r>
              <a:rPr lang="en-US" sz="1600" b="1"/>
              <a:t>combined to make a single, stronger model</a:t>
            </a:r>
            <a:r>
              <a:rPr lang="en-US" sz="1600"/>
              <a:t> that achieves </a:t>
            </a:r>
            <a:r>
              <a:rPr lang="en-US" sz="1600" b="1"/>
              <a:t>better accuracy, stability, and generalization</a:t>
            </a:r>
            <a:r>
              <a:rPr lang="en-US" sz="1600"/>
              <a:t> than any individual model.</a:t>
            </a:r>
          </a:p>
          <a:p>
            <a:r>
              <a:rPr lang="en-US" sz="1600" b="1"/>
              <a:t>Key idea:</a:t>
            </a:r>
            <a:br>
              <a:rPr lang="en-US" sz="1600" b="1"/>
            </a:br>
            <a:r>
              <a:rPr lang="en-US" sz="1600" b="1"/>
              <a:t> </a:t>
            </a:r>
            <a:r>
              <a:rPr lang="en-US" sz="1600" i="1"/>
              <a:t>“Many models together perform better than one.”</a:t>
            </a:r>
            <a:endParaRPr lang="en-US" sz="1600"/>
          </a:p>
          <a:p>
            <a:r>
              <a:rPr lang="en-US" sz="1600" b="1"/>
              <a:t>Why it works:</a:t>
            </a:r>
            <a:endParaRPr lang="en-US" sz="1600"/>
          </a:p>
          <a:p>
            <a:r>
              <a:rPr lang="en-US" sz="1600"/>
              <a:t>Reduces </a:t>
            </a:r>
            <a:r>
              <a:rPr lang="en-US" sz="1600" b="1"/>
              <a:t>variance</a:t>
            </a:r>
            <a:r>
              <a:rPr lang="en-US" sz="1600"/>
              <a:t> (e.g., bagging)</a:t>
            </a:r>
          </a:p>
          <a:p>
            <a:r>
              <a:rPr lang="en-US" sz="1600"/>
              <a:t>Reduces </a:t>
            </a:r>
            <a:r>
              <a:rPr lang="en-US" sz="1600" b="1"/>
              <a:t>bias</a:t>
            </a:r>
            <a:r>
              <a:rPr lang="en-US" sz="1600"/>
              <a:t> (e.g., boosting)</a:t>
            </a:r>
          </a:p>
          <a:p>
            <a:r>
              <a:rPr lang="en-US" sz="1600"/>
              <a:t>Improves </a:t>
            </a:r>
            <a:r>
              <a:rPr lang="en-US" sz="1600" b="1"/>
              <a:t>overall prediction robustness</a:t>
            </a:r>
            <a:endParaRPr lang="en-US" sz="1600"/>
          </a:p>
          <a:p>
            <a:endParaRPr lang="en-US" sz="16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707185-3ABA-D789-620E-1C2F185366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23345" y="2392450"/>
            <a:ext cx="5926652" cy="38259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1075-9293-C857-EE7A-FB18734FF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Types</a:t>
            </a:r>
          </a:p>
        </p:txBody>
      </p:sp>
      <p:pic>
        <p:nvPicPr>
          <p:cNvPr id="5" name="Content Placeholder 4" descr="A diagram of a cross with words&#10;&#10;AI-generated content may be incorrect.">
            <a:extLst>
              <a:ext uri="{FF2B5EF4-FFF2-40B4-BE49-F238E27FC236}">
                <a16:creationId xmlns:a16="http://schemas.microsoft.com/office/drawing/2014/main" id="{AD22A57E-D43D-B269-0CD7-25505A56F0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20993" b="15269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47B9-C3ED-FAEE-F3D3-5103FD4BA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3982" y="3709718"/>
            <a:ext cx="7485413" cy="3142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/>
              <a:t>Bagging</a:t>
            </a:r>
            <a:r>
              <a:rPr lang="en-US" sz="2400" dirty="0"/>
              <a:t> (e.g., Random Forest): trains models independently and averages results</a:t>
            </a:r>
          </a:p>
          <a:p>
            <a:r>
              <a:rPr lang="en-US" sz="2400" b="1" dirty="0"/>
              <a:t>Boosting</a:t>
            </a:r>
            <a:r>
              <a:rPr lang="en-US" sz="2400" dirty="0"/>
              <a:t> (e.g., AdaBoost, Gradient Boosting, XG Boost): trains models sequentially, focusing on errors</a:t>
            </a:r>
          </a:p>
          <a:p>
            <a:r>
              <a:rPr lang="en-US" sz="2400" b="1" dirty="0"/>
              <a:t>Stacking</a:t>
            </a:r>
            <a:r>
              <a:rPr lang="en-US" sz="2400" dirty="0"/>
              <a:t>: combines different models using a meta-model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853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3FE06C-8121-25C0-12BD-D899AE20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47" y="378851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Bagging (Bootstrapped sampling)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diagram of a model&#10;&#10;AI-generated content may be incorrect.">
            <a:extLst>
              <a:ext uri="{FF2B5EF4-FFF2-40B4-BE49-F238E27FC236}">
                <a16:creationId xmlns:a16="http://schemas.microsoft.com/office/drawing/2014/main" id="{ED35EEAA-C2E4-3570-91C4-E9914E2D87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3182" y="2131868"/>
            <a:ext cx="4777381" cy="305952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1DA10-55B4-6AD0-C77C-37798165F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4962" y="374179"/>
            <a:ext cx="5458838" cy="578840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 b="1" dirty="0"/>
              <a:t>Bagging (Bootstrap Aggregating)</a:t>
            </a:r>
            <a:r>
              <a:rPr lang="en-US" sz="1400" dirty="0"/>
              <a:t> is an </a:t>
            </a:r>
            <a:r>
              <a:rPr lang="en-US" sz="1400" b="1" dirty="0"/>
              <a:t>ensemble learning technique</a:t>
            </a:r>
            <a:r>
              <a:rPr lang="en-US" sz="1400" dirty="0"/>
              <a:t> used to </a:t>
            </a:r>
            <a:r>
              <a:rPr lang="en-US" sz="1400" b="1" dirty="0"/>
              <a:t>reduce variance</a:t>
            </a:r>
            <a:r>
              <a:rPr lang="en-US" sz="1400" dirty="0"/>
              <a:t> and </a:t>
            </a:r>
            <a:r>
              <a:rPr lang="en-US" sz="1400" b="1" dirty="0"/>
              <a:t>improve model stability</a:t>
            </a:r>
            <a:r>
              <a:rPr lang="en-US" sz="1400" dirty="0"/>
              <a:t> by training multiple models on </a:t>
            </a:r>
            <a:r>
              <a:rPr lang="en-US" sz="1400" b="1" dirty="0"/>
              <a:t>different random samples</a:t>
            </a:r>
            <a:r>
              <a:rPr lang="en-US" sz="1400" dirty="0"/>
              <a:t> of the same dataset and combining their predictions.</a:t>
            </a:r>
          </a:p>
          <a:p>
            <a:r>
              <a:rPr lang="en-US" sz="1400" dirty="0"/>
              <a:t>Key Points:</a:t>
            </a:r>
          </a:p>
          <a:p>
            <a:r>
              <a:rPr lang="en-US" sz="1400" dirty="0"/>
              <a:t>Uses </a:t>
            </a:r>
            <a:r>
              <a:rPr lang="en-US" sz="1400" b="1" dirty="0"/>
              <a:t>bootstrap sampling</a:t>
            </a:r>
            <a:r>
              <a:rPr lang="en-US" sz="1400" dirty="0"/>
              <a:t> (sampling </a:t>
            </a:r>
            <a:r>
              <a:rPr lang="en-US" sz="1400" b="1" dirty="0"/>
              <a:t>with replacement</a:t>
            </a:r>
            <a:r>
              <a:rPr lang="en-US" sz="1400" dirty="0"/>
              <a:t>)</a:t>
            </a:r>
          </a:p>
          <a:p>
            <a:r>
              <a:rPr lang="en-US" sz="1400" dirty="0"/>
              <a:t>Models are trained </a:t>
            </a:r>
            <a:r>
              <a:rPr lang="en-US" sz="1400" b="1" dirty="0"/>
              <a:t>independently and in parallel</a:t>
            </a:r>
            <a:endParaRPr lang="en-US" sz="1400" dirty="0"/>
          </a:p>
          <a:p>
            <a:r>
              <a:rPr lang="en-US" sz="1400" dirty="0"/>
              <a:t>Final prediction is made by:</a:t>
            </a:r>
          </a:p>
          <a:p>
            <a:pPr lvl="1"/>
            <a:r>
              <a:rPr lang="en-US" sz="1400" b="1" dirty="0"/>
              <a:t>Averaging</a:t>
            </a:r>
            <a:r>
              <a:rPr lang="en-US" sz="1400" dirty="0"/>
              <a:t> (for regression)</a:t>
            </a:r>
          </a:p>
          <a:p>
            <a:pPr lvl="1"/>
            <a:r>
              <a:rPr lang="en-US" sz="1400" b="1" dirty="0"/>
              <a:t>Majority voting</a:t>
            </a:r>
            <a:r>
              <a:rPr lang="en-US" sz="1400" dirty="0"/>
              <a:t> (for classification)</a:t>
            </a:r>
          </a:p>
          <a:p>
            <a:r>
              <a:rPr lang="en-US" sz="1400" dirty="0"/>
              <a:t>Works best with </a:t>
            </a:r>
            <a:r>
              <a:rPr lang="en-US" sz="1400" b="1" dirty="0"/>
              <a:t>high-variance models</a:t>
            </a:r>
            <a:r>
              <a:rPr lang="en-US" sz="1400" dirty="0"/>
              <a:t> (e.g., Decision Trees)</a:t>
            </a:r>
          </a:p>
          <a:p>
            <a:r>
              <a:rPr lang="en-US" sz="1400" dirty="0"/>
              <a:t>Steps in Bagging:</a:t>
            </a:r>
          </a:p>
          <a:p>
            <a:r>
              <a:rPr lang="en-US" sz="1400" dirty="0"/>
              <a:t>Create multiple bootstrap samples from the training data</a:t>
            </a:r>
          </a:p>
          <a:p>
            <a:r>
              <a:rPr lang="en-US" sz="1400" dirty="0"/>
              <a:t>Train a base model on each sample</a:t>
            </a:r>
          </a:p>
          <a:p>
            <a:r>
              <a:rPr lang="en-US" sz="1400" dirty="0"/>
              <a:t>Combine predictions from all models</a:t>
            </a:r>
          </a:p>
          <a:p>
            <a:r>
              <a:rPr lang="en-US" sz="1400" dirty="0"/>
              <a:t>Advantages:</a:t>
            </a:r>
          </a:p>
          <a:p>
            <a:r>
              <a:rPr lang="en-US" sz="1400" dirty="0"/>
              <a:t>Reduces </a:t>
            </a:r>
            <a:r>
              <a:rPr lang="en-US" sz="1400" b="1" dirty="0"/>
              <a:t>overfitting</a:t>
            </a:r>
            <a:endParaRPr lang="en-US" sz="1400" dirty="0"/>
          </a:p>
          <a:p>
            <a:r>
              <a:rPr lang="en-US" sz="1400" dirty="0"/>
              <a:t>Improves </a:t>
            </a:r>
            <a:r>
              <a:rPr lang="en-US" sz="1400" b="1" dirty="0"/>
              <a:t>accuracy and robustness</a:t>
            </a:r>
            <a:endParaRPr lang="en-US" sz="1400" dirty="0"/>
          </a:p>
          <a:p>
            <a:r>
              <a:rPr lang="en-US" sz="1400" dirty="0"/>
              <a:t>Easy to parallelize</a:t>
            </a:r>
          </a:p>
          <a:p>
            <a:r>
              <a:rPr lang="en-US" sz="1400" dirty="0"/>
              <a:t>Limitation:   Does </a:t>
            </a:r>
            <a:r>
              <a:rPr lang="en-US" sz="1400" b="1" dirty="0"/>
              <a:t>not reduce bias , </a:t>
            </a:r>
            <a:r>
              <a:rPr lang="en-US" sz="1400" dirty="0"/>
              <a:t>Less effective for low-variance models</a:t>
            </a:r>
          </a:p>
          <a:p>
            <a:endParaRPr lang="en-US" sz="1400" dirty="0"/>
          </a:p>
        </p:txBody>
      </p:sp>
      <p:pic>
        <p:nvPicPr>
          <p:cNvPr id="6" name="Picture 5" descr="A diagram of a model&#10;&#10;AI-generated content may be incorrect.">
            <a:extLst>
              <a:ext uri="{FF2B5EF4-FFF2-40B4-BE49-F238E27FC236}">
                <a16:creationId xmlns:a16="http://schemas.microsoft.com/office/drawing/2014/main" id="{14768982-96EE-EE7B-A82B-98522785B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31" y="1831856"/>
            <a:ext cx="5147814" cy="335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6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EF0C9-58F9-989A-F29B-D8F53B6A1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71FEC-1EBF-FB03-18F0-F8410D684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260" y="160650"/>
            <a:ext cx="8021836" cy="6683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ea typeface="+mn-lt"/>
                <a:cs typeface="+mn-lt"/>
              </a:rPr>
              <a:t>Random Forest</a:t>
            </a:r>
            <a:r>
              <a:rPr lang="en-US" sz="1400" dirty="0">
                <a:ea typeface="+mn-lt"/>
                <a:cs typeface="+mn-lt"/>
              </a:rPr>
              <a:t> is an ensemble learning algorithm that uses </a:t>
            </a:r>
            <a:r>
              <a:rPr lang="en-US" sz="1400" b="1" dirty="0">
                <a:ea typeface="+mn-lt"/>
                <a:cs typeface="+mn-lt"/>
              </a:rPr>
              <a:t>Bagging (Bootstrap Aggregating)</a:t>
            </a:r>
            <a:r>
              <a:rPr lang="en-US" sz="1400" dirty="0">
                <a:ea typeface="+mn-lt"/>
                <a:cs typeface="+mn-lt"/>
              </a:rPr>
              <a:t> with </a:t>
            </a:r>
            <a:r>
              <a:rPr lang="en-US" sz="1400" b="1" dirty="0">
                <a:ea typeface="+mn-lt"/>
                <a:cs typeface="+mn-lt"/>
              </a:rPr>
              <a:t>decision trees</a:t>
            </a:r>
            <a:r>
              <a:rPr lang="en-US" sz="1400" dirty="0">
                <a:ea typeface="+mn-lt"/>
                <a:cs typeface="+mn-lt"/>
              </a:rPr>
              <a:t> as base learners and adds </a:t>
            </a:r>
            <a:r>
              <a:rPr lang="en-US" sz="1400" b="1" dirty="0">
                <a:ea typeface="+mn-lt"/>
                <a:cs typeface="+mn-lt"/>
              </a:rPr>
              <a:t>feature randomness</a:t>
            </a:r>
            <a:r>
              <a:rPr lang="en-US" sz="1400" dirty="0">
                <a:ea typeface="+mn-lt"/>
                <a:cs typeface="+mn-lt"/>
              </a:rPr>
              <a:t> to further improve performance.</a:t>
            </a:r>
            <a:endParaRPr lang="en-US" sz="1400" dirty="0"/>
          </a:p>
          <a:p>
            <a:r>
              <a:rPr lang="en-US" sz="1400" b="1" dirty="0"/>
              <a:t>How Random Forest uses Bagging</a:t>
            </a:r>
            <a:endParaRPr lang="en-US" sz="1400" dirty="0"/>
          </a:p>
          <a:p>
            <a:r>
              <a:rPr lang="en-US" sz="1400" b="1" dirty="0">
                <a:ea typeface="+mn-lt"/>
                <a:cs typeface="+mn-lt"/>
              </a:rPr>
              <a:t>Bootstrap Sampling</a:t>
            </a:r>
            <a:r>
              <a:rPr lang="en-US" sz="1400" dirty="0">
                <a:ea typeface="+mn-lt"/>
                <a:cs typeface="+mn-lt"/>
              </a:rPr>
              <a:t>:</a:t>
            </a:r>
            <a:endParaRPr lang="en-US" sz="1400" dirty="0"/>
          </a:p>
          <a:p>
            <a:pPr lvl="1"/>
            <a:r>
              <a:rPr lang="en-US" sz="1400" dirty="0">
                <a:ea typeface="+mn-lt"/>
                <a:cs typeface="+mn-lt"/>
              </a:rPr>
              <a:t>Multiple datasets are created by sampling </a:t>
            </a:r>
            <a:r>
              <a:rPr lang="en-US" sz="1400" b="1" dirty="0">
                <a:ea typeface="+mn-lt"/>
                <a:cs typeface="+mn-lt"/>
              </a:rPr>
              <a:t>with replacement</a:t>
            </a:r>
            <a:r>
              <a:rPr lang="en-US" sz="1400" dirty="0">
                <a:ea typeface="+mn-lt"/>
                <a:cs typeface="+mn-lt"/>
              </a:rPr>
              <a:t> from the original data.</a:t>
            </a:r>
            <a:endParaRPr lang="en-US" sz="1400" dirty="0"/>
          </a:p>
          <a:p>
            <a:r>
              <a:rPr lang="en-US" sz="1400" b="1" dirty="0">
                <a:ea typeface="+mn-lt"/>
                <a:cs typeface="+mn-lt"/>
              </a:rPr>
              <a:t>Train Decision Trees</a:t>
            </a:r>
            <a:r>
              <a:rPr lang="en-US" sz="1400" dirty="0">
                <a:ea typeface="+mn-lt"/>
                <a:cs typeface="+mn-lt"/>
              </a:rPr>
              <a:t>:</a:t>
            </a:r>
            <a:endParaRPr lang="en-US" sz="1400" dirty="0"/>
          </a:p>
          <a:p>
            <a:pPr lvl="1"/>
            <a:r>
              <a:rPr lang="en-US" sz="1400" dirty="0">
                <a:ea typeface="+mn-lt"/>
                <a:cs typeface="+mn-lt"/>
              </a:rPr>
              <a:t>Each bootstrap sample trains a </a:t>
            </a:r>
            <a:r>
              <a:rPr lang="en-US" sz="1400" b="1" dirty="0">
                <a:ea typeface="+mn-lt"/>
                <a:cs typeface="+mn-lt"/>
              </a:rPr>
              <a:t>separate decision tree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 dirty="0"/>
          </a:p>
          <a:p>
            <a:r>
              <a:rPr lang="en-US" sz="1400" b="1" dirty="0">
                <a:ea typeface="+mn-lt"/>
                <a:cs typeface="+mn-lt"/>
              </a:rPr>
              <a:t>Feature Randomness</a:t>
            </a:r>
            <a:r>
              <a:rPr lang="en-US" sz="1400" dirty="0">
                <a:ea typeface="+mn-lt"/>
                <a:cs typeface="+mn-lt"/>
              </a:rPr>
              <a:t> (extra step beyond bagging):</a:t>
            </a:r>
            <a:endParaRPr lang="en-US" sz="1400" dirty="0"/>
          </a:p>
          <a:p>
            <a:pPr lvl="1"/>
            <a:r>
              <a:rPr lang="en-US" sz="1400" dirty="0">
                <a:ea typeface="+mn-lt"/>
                <a:cs typeface="+mn-lt"/>
              </a:rPr>
              <a:t>At each split, a </a:t>
            </a:r>
            <a:r>
              <a:rPr lang="en-US" sz="1400" b="1" dirty="0">
                <a:ea typeface="+mn-lt"/>
                <a:cs typeface="+mn-lt"/>
              </a:rPr>
              <a:t>random subset of features</a:t>
            </a:r>
            <a:r>
              <a:rPr lang="en-US" sz="1400" dirty="0">
                <a:ea typeface="+mn-lt"/>
                <a:cs typeface="+mn-lt"/>
              </a:rPr>
              <a:t> is considered.</a:t>
            </a:r>
            <a:endParaRPr lang="en-US" sz="1400" dirty="0"/>
          </a:p>
          <a:p>
            <a:r>
              <a:rPr lang="en-US" sz="1400" b="1" dirty="0">
                <a:ea typeface="+mn-lt"/>
                <a:cs typeface="+mn-lt"/>
              </a:rPr>
              <a:t>Aggregation</a:t>
            </a:r>
            <a:r>
              <a:rPr lang="en-US" sz="1400" dirty="0">
                <a:ea typeface="+mn-lt"/>
                <a:cs typeface="+mn-lt"/>
              </a:rPr>
              <a:t>:</a:t>
            </a:r>
            <a:endParaRPr lang="en-US" sz="1400" dirty="0"/>
          </a:p>
          <a:p>
            <a:pPr lvl="1"/>
            <a:r>
              <a:rPr lang="en-US" sz="1400" b="1" dirty="0">
                <a:ea typeface="+mn-lt"/>
                <a:cs typeface="+mn-lt"/>
              </a:rPr>
              <a:t>Classification</a:t>
            </a:r>
            <a:r>
              <a:rPr lang="en-US" sz="1400" dirty="0">
                <a:ea typeface="+mn-lt"/>
                <a:cs typeface="+mn-lt"/>
              </a:rPr>
              <a:t> → Majority voting</a:t>
            </a:r>
            <a:endParaRPr lang="en-US" sz="1400" dirty="0"/>
          </a:p>
          <a:p>
            <a:pPr lvl="1"/>
            <a:r>
              <a:rPr lang="en-US" sz="1400" b="1" dirty="0">
                <a:ea typeface="+mn-lt"/>
                <a:cs typeface="+mn-lt"/>
              </a:rPr>
              <a:t>Regression</a:t>
            </a:r>
            <a:r>
              <a:rPr lang="en-US" sz="1400" dirty="0">
                <a:ea typeface="+mn-lt"/>
                <a:cs typeface="+mn-lt"/>
              </a:rPr>
              <a:t> → Average prediction</a:t>
            </a:r>
          </a:p>
          <a:p>
            <a:pPr marL="457200" lvl="1" indent="0">
              <a:buNone/>
            </a:pPr>
            <a:r>
              <a:rPr lang="en-US" sz="1400" b="1" dirty="0">
                <a:ea typeface="+mn-lt"/>
                <a:cs typeface="+mn-lt"/>
              </a:rPr>
              <a:t>Why</a:t>
            </a:r>
            <a:r>
              <a:rPr lang="en-US" sz="1400" b="1" dirty="0"/>
              <a:t> Random Forest is better than plain Bagging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Reduces </a:t>
            </a:r>
            <a:r>
              <a:rPr lang="en-US" sz="1400" b="1" dirty="0">
                <a:ea typeface="+mn-lt"/>
                <a:cs typeface="+mn-lt"/>
              </a:rPr>
              <a:t>correlation between trees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Lowers </a:t>
            </a:r>
            <a:r>
              <a:rPr lang="en-US" sz="1400" b="1" dirty="0">
                <a:ea typeface="+mn-lt"/>
                <a:cs typeface="+mn-lt"/>
              </a:rPr>
              <a:t>variance</a:t>
            </a:r>
            <a:r>
              <a:rPr lang="en-US" sz="1400" dirty="0">
                <a:ea typeface="+mn-lt"/>
                <a:cs typeface="+mn-lt"/>
              </a:rPr>
              <a:t> more effectively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Handles </a:t>
            </a:r>
            <a:r>
              <a:rPr lang="en-US" sz="1400" b="1" dirty="0">
                <a:ea typeface="+mn-lt"/>
                <a:cs typeface="+mn-lt"/>
              </a:rPr>
              <a:t>overfitting</a:t>
            </a:r>
            <a:r>
              <a:rPr lang="en-US" sz="1400" dirty="0">
                <a:ea typeface="+mn-lt"/>
                <a:cs typeface="+mn-lt"/>
              </a:rPr>
              <a:t> better than a single tree</a:t>
            </a:r>
            <a:endParaRPr lang="en-US" sz="1400" dirty="0"/>
          </a:p>
          <a:p>
            <a:br>
              <a:rPr lang="en-US" sz="800" dirty="0"/>
            </a:br>
            <a:endParaRPr lang="en-US" sz="1400" dirty="0"/>
          </a:p>
          <a:p>
            <a:r>
              <a:rPr lang="en-US" sz="1400" b="1" dirty="0"/>
              <a:t>Key Characteristics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Parallel training of trees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Works well with </a:t>
            </a:r>
            <a:r>
              <a:rPr lang="en-US" sz="1400" b="1" dirty="0">
                <a:ea typeface="+mn-lt"/>
                <a:cs typeface="+mn-lt"/>
              </a:rPr>
              <a:t>high-dimensional data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Robust to noise and outliers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Built-in </a:t>
            </a:r>
            <a:r>
              <a:rPr lang="en-US" sz="1400" b="1" dirty="0">
                <a:ea typeface="+mn-lt"/>
                <a:cs typeface="+mn-lt"/>
              </a:rPr>
              <a:t>feature importance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72679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699FC8AA-C398-FCCE-F65C-FB4B1CD32A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6068" b="833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917B5C-58E4-4F54-BBC7-86C0C553A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Aptos"/>
              </a:rPr>
              <a:t>Extremely Randomized Trees (Extra Trees)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121AC-8761-601F-6DCF-5968A6151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735" y="183379"/>
            <a:ext cx="5259064" cy="5945709"/>
          </a:xfrm>
        </p:spPr>
        <p:txBody>
          <a:bodyPr vert="horz" lIns="91440" tIns="45720" rIns="91440" bIns="45720" rtlCol="0" anchor="ctr">
            <a:noAutofit/>
          </a:bodyPr>
          <a:lstStyle/>
          <a:p>
            <a:endParaRPr lang="en-US" sz="1600" b="1" dirty="0">
              <a:solidFill>
                <a:srgbClr val="FFFFFF"/>
              </a:solidFill>
            </a:endParaRPr>
          </a:p>
          <a:p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Ensemble learning method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 using multiple decision trees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Adds 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maximum randomness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 to reduce variance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Working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Uses 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full training data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 (no bootstrapping by default)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Randomly selects 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feature subsets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Chooses 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random split points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 (not optimal splits)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Final output = 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average (regression)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 / 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majority vote (classification)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Advantages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Faster training than Random Forest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Lower overfitting, robust to noise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Handles high-dimensional data well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Limitations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Slightly higher bias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Less interpretable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Needs many trees for stability</a:t>
            </a:r>
            <a:endParaRPr lang="en-US" sz="1600" dirty="0">
              <a:solidFill>
                <a:srgbClr val="FFFFFF"/>
              </a:solidFill>
            </a:endParaRPr>
          </a:p>
          <a:p>
            <a:endParaRPr lang="en-US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63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24F7B4-982C-2C32-8D12-7DA958937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Gradient Boosting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680DF-F707-62FE-D251-C96F0DDCB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42" y="1709532"/>
            <a:ext cx="5979758" cy="49816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>
                <a:ea typeface="+mn-lt"/>
                <a:cs typeface="+mn-lt"/>
              </a:rPr>
              <a:t>Ensemble learning technique</a:t>
            </a:r>
            <a:r>
              <a:rPr lang="en-US" sz="1600" dirty="0">
                <a:ea typeface="+mn-lt"/>
                <a:cs typeface="+mn-lt"/>
              </a:rPr>
              <a:t> that builds models </a:t>
            </a:r>
            <a:r>
              <a:rPr lang="en-US" sz="1600" b="1" dirty="0">
                <a:ea typeface="+mn-lt"/>
                <a:cs typeface="+mn-lt"/>
              </a:rPr>
              <a:t>sequentially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Combines </a:t>
            </a:r>
            <a:r>
              <a:rPr lang="en-US" sz="1600" b="1" dirty="0">
                <a:ea typeface="+mn-lt"/>
                <a:cs typeface="+mn-lt"/>
              </a:rPr>
              <a:t>weak learners (decision trees)</a:t>
            </a:r>
            <a:r>
              <a:rPr lang="en-US" sz="1600" dirty="0">
                <a:ea typeface="+mn-lt"/>
                <a:cs typeface="+mn-lt"/>
              </a:rPr>
              <a:t> to form a strong model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Key Idea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Each new model </a:t>
            </a:r>
            <a:r>
              <a:rPr lang="en-US" sz="1600" b="1" dirty="0">
                <a:ea typeface="+mn-lt"/>
                <a:cs typeface="+mn-lt"/>
              </a:rPr>
              <a:t>corrects the errors</a:t>
            </a:r>
            <a:r>
              <a:rPr lang="en-US" sz="1600" dirty="0">
                <a:ea typeface="+mn-lt"/>
                <a:cs typeface="+mn-lt"/>
              </a:rPr>
              <a:t> of the previous model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Optimization done using </a:t>
            </a:r>
            <a:r>
              <a:rPr lang="en-US" sz="1600" b="1" dirty="0">
                <a:ea typeface="+mn-lt"/>
                <a:cs typeface="+mn-lt"/>
              </a:rPr>
              <a:t>gradient descent</a:t>
            </a:r>
            <a:r>
              <a:rPr lang="en-US" sz="1600" dirty="0">
                <a:ea typeface="+mn-lt"/>
                <a:cs typeface="+mn-lt"/>
              </a:rPr>
              <a:t> on a loss function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Working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Start with an initial prediction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Compute </a:t>
            </a:r>
            <a:r>
              <a:rPr lang="en-US" sz="1600" b="1" dirty="0">
                <a:ea typeface="+mn-lt"/>
                <a:cs typeface="+mn-lt"/>
              </a:rPr>
              <a:t>residuals (errors)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Train next tree on residuals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Add predictions using a </a:t>
            </a:r>
            <a:r>
              <a:rPr lang="en-US" sz="1600" b="1" dirty="0">
                <a:ea typeface="+mn-lt"/>
                <a:cs typeface="+mn-lt"/>
              </a:rPr>
              <a:t>learning rate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Final prediction = weighted sum of all trees</a:t>
            </a:r>
            <a:endParaRPr lang="en-US" sz="1600" dirty="0"/>
          </a:p>
          <a:p>
            <a:r>
              <a:rPr lang="en-US" sz="1600" b="1" dirty="0">
                <a:ea typeface="+mn-lt"/>
                <a:cs typeface="+mn-lt"/>
              </a:rPr>
              <a:t>Advantages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High predictive accuracy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Works with different loss functions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4" name="Picture 3" descr="A diagram of a tree and tree&#10;&#10;AI-generated content may be incorrect.">
            <a:extLst>
              <a:ext uri="{FF2B5EF4-FFF2-40B4-BE49-F238E27FC236}">
                <a16:creationId xmlns:a16="http://schemas.microsoft.com/office/drawing/2014/main" id="{23A70A96-93E7-F323-B89B-FE8D5B773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141" y="1952813"/>
            <a:ext cx="5981825" cy="4306381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05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B87F-400E-992D-4750-2E590510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1414D-E409-26B8-FDDB-5E942A03D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24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Ensemble Learning</vt:lpstr>
      <vt:lpstr>Types</vt:lpstr>
      <vt:lpstr>Bagging (Bootstrapped sampling)</vt:lpstr>
      <vt:lpstr>Random Forest</vt:lpstr>
      <vt:lpstr>Extremely Randomized Trees (Extra Trees)</vt:lpstr>
      <vt:lpstr>Gradient Boosting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143</cp:revision>
  <dcterms:created xsi:type="dcterms:W3CDTF">2025-12-24T12:56:24Z</dcterms:created>
  <dcterms:modified xsi:type="dcterms:W3CDTF">2025-12-31T14:15:34Z</dcterms:modified>
</cp:coreProperties>
</file>